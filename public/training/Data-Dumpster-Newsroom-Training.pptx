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d62013a454514" /><Relationship Type="http://schemas.openxmlformats.org/officeDocument/2006/relationships/extended-properties" Target="/docProps/app.xml" Id="Rc078b4039cea42ae" /><Relationship Type="http://schemas.openxmlformats.org/officeDocument/2006/relationships/officeDocument" Target="/ppt/presentation.xml" Id="R588d58d571d8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766dfba7e4a26"/>
  </p:sldMasterIdLst>
  <p:notesMasterIdLst>
    <p:notesMasterId xmlns:r="http://schemas.openxmlformats.org/officeDocument/2006/relationships" r:id="R65bdb959a9014503"/>
  </p:notesMasterIdLst>
  <p:sldIdLst>
    <p:sldId xmlns:r="http://schemas.openxmlformats.org/officeDocument/2006/relationships" id="256" r:id="R8bb4dfaffde34c77"/>
    <p:sldId xmlns:r="http://schemas.openxmlformats.org/officeDocument/2006/relationships" id="257" r:id="Rdb8c3cbc42f04497"/>
    <p:sldId xmlns:r="http://schemas.openxmlformats.org/officeDocument/2006/relationships" id="258" r:id="R117632830d3a4fe2"/>
    <p:sldId xmlns:r="http://schemas.openxmlformats.org/officeDocument/2006/relationships" id="259" r:id="Rfde691346f3b4429"/>
    <p:sldId xmlns:r="http://schemas.openxmlformats.org/officeDocument/2006/relationships" id="260" r:id="R5dbb94d3bd7c42e8"/>
    <p:sldId xmlns:r="http://schemas.openxmlformats.org/officeDocument/2006/relationships" id="261" r:id="Rc2d08ae4665549fe"/>
    <p:sldId xmlns:r="http://schemas.openxmlformats.org/officeDocument/2006/relationships" id="262" r:id="R3c35d001debe4daf"/>
    <p:sldId xmlns:r="http://schemas.openxmlformats.org/officeDocument/2006/relationships" id="263" r:id="R989fd6e21ec94bec"/>
    <p:sldId xmlns:r="http://schemas.openxmlformats.org/officeDocument/2006/relationships" id="264" r:id="R82491e1fbf9d4d77"/>
    <p:sldId xmlns:r="http://schemas.openxmlformats.org/officeDocument/2006/relationships" id="265" r:id="R594080a2e6f54c03"/>
    <p:sldId xmlns:r="http://schemas.openxmlformats.org/officeDocument/2006/relationships" id="266" r:id="Rb11d91a602d949b5"/>
    <p:sldId xmlns:r="http://schemas.openxmlformats.org/officeDocument/2006/relationships" id="267" r:id="R81428ca0e4cb4760"/>
    <p:sldId xmlns:r="http://schemas.openxmlformats.org/officeDocument/2006/relationships" id="268" r:id="Rbc37558bfb5c434f"/>
    <p:sldId xmlns:r="http://schemas.openxmlformats.org/officeDocument/2006/relationships" id="269" r:id="R64f2a46cc51041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bb1450630a4175" /><Relationship Type="http://schemas.openxmlformats.org/officeDocument/2006/relationships/slideMaster" Target="/ppt/slideMasters/slideMaster1.xml" Id="R119766dfba7e4a26" /><Relationship Type="http://schemas.openxmlformats.org/officeDocument/2006/relationships/notesMaster" Target="/ppt/notesMasters/notesMaster1.xml" Id="R65bdb959a9014503" /><Relationship Type="http://schemas.openxmlformats.org/officeDocument/2006/relationships/presProps" Target="/ppt/presProps.xml" Id="R5f3c11fce27b4abc" /><Relationship Type="http://schemas.openxmlformats.org/officeDocument/2006/relationships/tableStyles" Target="/ppt/tableStyles.xml" Id="R1b859200d5df4705" /><Relationship Type="http://schemas.openxmlformats.org/officeDocument/2006/relationships/slide" Target="/ppt/slides/slide1.xml" Id="R8bb4dfaffde34c77" /><Relationship Type="http://schemas.openxmlformats.org/officeDocument/2006/relationships/slide" Target="/ppt/slides/slide2.xml" Id="Rdb8c3cbc42f04497" /><Relationship Type="http://schemas.openxmlformats.org/officeDocument/2006/relationships/slide" Target="/ppt/slides/slide3.xml" Id="R117632830d3a4fe2" /><Relationship Type="http://schemas.openxmlformats.org/officeDocument/2006/relationships/slide" Target="/ppt/slides/slide4.xml" Id="Rfde691346f3b4429" /><Relationship Type="http://schemas.openxmlformats.org/officeDocument/2006/relationships/slide" Target="/ppt/slides/slide5.xml" Id="R5dbb94d3bd7c42e8" /><Relationship Type="http://schemas.openxmlformats.org/officeDocument/2006/relationships/slide" Target="/ppt/slides/slide6.xml" Id="Rc2d08ae4665549fe" /><Relationship Type="http://schemas.openxmlformats.org/officeDocument/2006/relationships/slide" Target="/ppt/slides/slide7.xml" Id="R3c35d001debe4daf" /><Relationship Type="http://schemas.openxmlformats.org/officeDocument/2006/relationships/slide" Target="/ppt/slides/slide8.xml" Id="R989fd6e21ec94bec" /><Relationship Type="http://schemas.openxmlformats.org/officeDocument/2006/relationships/slide" Target="/ppt/slides/slide9.xml" Id="R82491e1fbf9d4d77" /><Relationship Type="http://schemas.openxmlformats.org/officeDocument/2006/relationships/slide" Target="/ppt/slides/slide10.xml" Id="R594080a2e6f54c03" /><Relationship Type="http://schemas.openxmlformats.org/officeDocument/2006/relationships/slide" Target="/ppt/slides/slide11.xml" Id="Rb11d91a602d949b5" /><Relationship Type="http://schemas.openxmlformats.org/officeDocument/2006/relationships/slide" Target="/ppt/slides/slide12.xml" Id="R81428ca0e4cb4760" /><Relationship Type="http://schemas.openxmlformats.org/officeDocument/2006/relationships/slide" Target="/ppt/slides/slide13.xml" Id="Rbc37558bfb5c434f" /><Relationship Type="http://schemas.openxmlformats.org/officeDocument/2006/relationships/slide" Target="/ppt/slides/slide14.xml" Id="R64f2a46cc51041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91ec13e12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47eb3821314c42" /><Relationship Type="http://schemas.openxmlformats.org/officeDocument/2006/relationships/notesMaster" Target="/ppt/notesMasters/notesMaster1.xml" Id="R267f7cce5aa542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84e4d92e0479c" /><Relationship Type="http://schemas.openxmlformats.org/officeDocument/2006/relationships/notesMaster" Target="/ppt/notesMasters/notesMaster1.xml" Id="R3f35e25cf0ed4b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eaac7cd0e4d4e" /><Relationship Type="http://schemas.openxmlformats.org/officeDocument/2006/relationships/notesMaster" Target="/ppt/notesMasters/notesMaster1.xml" Id="Rf15c64342b63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38b650c6c400b" /><Relationship Type="http://schemas.openxmlformats.org/officeDocument/2006/relationships/notesMaster" Target="/ppt/notesMasters/notesMaster1.xml" Id="R4e10f7924c6d4f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60c83953b14142" /><Relationship Type="http://schemas.openxmlformats.org/officeDocument/2006/relationships/notesMaster" Target="/ppt/notesMasters/notesMaster1.xml" Id="Rf6de5c33389646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a749c2496c4800" /><Relationship Type="http://schemas.openxmlformats.org/officeDocument/2006/relationships/notesMaster" Target="/ppt/notesMasters/notesMaster1.xml" Id="Rb1c7f8e1375b4f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e91623df29440a" /><Relationship Type="http://schemas.openxmlformats.org/officeDocument/2006/relationships/notesMaster" Target="/ppt/notesMasters/notesMaster1.xml" Id="Raa3e39c98e1349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7b3d8f89d4ca3" /><Relationship Type="http://schemas.openxmlformats.org/officeDocument/2006/relationships/notesMaster" Target="/ppt/notesMasters/notesMaster1.xml" Id="Re646c45ae42c4e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f9cec8b81448d8" /><Relationship Type="http://schemas.openxmlformats.org/officeDocument/2006/relationships/notesMaster" Target="/ppt/notesMasters/notesMaster1.xml" Id="R5296f2f1c21e44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13512bfb24e17" /><Relationship Type="http://schemas.openxmlformats.org/officeDocument/2006/relationships/notesMaster" Target="/ppt/notesMasters/notesMaster1.xml" Id="R0902a4838f1b4f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f29f9eef4c4893" /><Relationship Type="http://schemas.openxmlformats.org/officeDocument/2006/relationships/notesMaster" Target="/ppt/notesMasters/notesMaster1.xml" Id="Rdebb30f676f545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96429632974318" /><Relationship Type="http://schemas.openxmlformats.org/officeDocument/2006/relationships/notesMaster" Target="/ppt/notesMasters/notesMaster1.xml" Id="R97d1981c147942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e22d30caee4a23" /><Relationship Type="http://schemas.openxmlformats.org/officeDocument/2006/relationships/notesMaster" Target="/ppt/notesMasters/notesMaster1.xml" Id="R020c8e07101c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09043d8ae24cab" /><Relationship Type="http://schemas.openxmlformats.org/officeDocument/2006/relationships/notesMaster" Target="/ppt/notesMasters/notesMaster1.xml" Id="Rf55ac0104d1d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Open by framing the tool as a daily newsroom decision aid—not a social media scorekeeping toy.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production application and internal product documentation, accessed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Ask the room to name a recent question they tried to answer manually. Map it to one of these three buckets.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information architecture, production application, accessed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Demonstrate changing the landscape and date range. Emphasize that screenshots and exported numbers should carry that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Cross-Channel, Boston News Landscape, captured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Pause on audience: widening the date range does not add follower readings together. It changes which latest reading qualifies.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Cross-Channel, captured Aug. 7, 2026.</a:t>
            </a:r>
          </a:p>
          <a:p xmlns:a="http://schemas.openxmlformats.org/drawingml/2006/main">
            <a:r>
              <a:t>- Metric definitions: internal Data Dumpster metric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Model the difference between observation and explanation. The tool supplies evidence; the newsroom supplies editorial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top-post workflow and outlier labeling, internal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Use one real leaderboard question: Who is publishing most? Who is generating the most engagement? Who is growing fastest? Keep those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Leaderboards, captured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Explain the line between computed facts and editorial narrative. Recomputing replaces the numeric snapshot and can invalidate prose written against older figures.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Weekly Report workspace, captured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Open the Newsroom Screen in a new tab, enter fullscreen and show the pause button. Its five-minute reread checks the database only; collection stays on the scheduled cadence.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Newsroom Screen, captured Aug. 7, 2026.</a:t>
            </a:r>
          </a:p>
          <a:p xmlns:a="http://schemas.openxmlformats.org/drawingml/2006/main">
            <a:r>
              <a:t>- Refresh behavior: internal Data Dumpster collection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Use a current warning as a teaching moment. A number can be visible and useful while a complete historical comparison is not yet supportable.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Screenshot: Data Dumpster Social Profiles, captured Aug. 7,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Have trainees paraphrase each label in their own words. The goal is confident, appropriately qualified use—not avoiding the product whenever a caveat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source-state contract and production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Invite each desk to choose one rhythm for the first month. Consistency beats trying every feature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Recommended newsroom adoption workflow; synthesized from Data Dumpster product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These guardrails mirror the product’s metric contracts. Ask trainees which one is easiest to violate under deadline pressure.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metric contracts: audience stock, zero-baseline change, and fact-sheet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Let people work in pairs. Keep the share-out to 30 seconds per pair and insist on a caveat when the interface displays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Training exercise designed for the Data Dumpster production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</a:t>
            </a:r>
          </a:p>
          <a:p xmlns:a="http://schemas.openxmlformats.org/drawingml/2006/main">
            <a:r>
              <a:t>Close by asking each participant to name one workflow they will use this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- Data Dumpster production application and training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a7aaf8f1f48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0c452bb4364a8a" /><Relationship Type="http://schemas.openxmlformats.org/officeDocument/2006/relationships/slideLayout" Target="/ppt/slideLayouts/slideLayout1.xml" Id="R6d7e3b69ef53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e3b69ef53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a0eeba4af4d9a" /><Relationship Type="http://schemas.openxmlformats.org/officeDocument/2006/relationships/notesSlide" Target="/ppt/notesSlides/notesSlide1.xml" Id="R5e87a59e76a34f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eb7920b64ab1" /><Relationship Type="http://schemas.openxmlformats.org/officeDocument/2006/relationships/notesSlide" Target="/ppt/notesSlides/notesSlide2.xml" Id="R92c8292ace5845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4cbfa0d3b46c2" /><Relationship Type="http://schemas.openxmlformats.org/officeDocument/2006/relationships/image" Target="/ppt/media/image.jpeg" Id="Raa8e86ec53f94071" /><Relationship Type="http://schemas.openxmlformats.org/officeDocument/2006/relationships/notesSlide" Target="/ppt/notesSlides/notesSlide3.xml" Id="R850f46923d24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38b1622914d71" /><Relationship Type="http://schemas.openxmlformats.org/officeDocument/2006/relationships/image" Target="/ppt/media/image2.jpeg" Id="R89f9a0f9fd614bdb" /><Relationship Type="http://schemas.openxmlformats.org/officeDocument/2006/relationships/notesSlide" Target="/ppt/notesSlides/notesSlide4.xml" Id="R4739bea6535f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1970529824ac1" /><Relationship Type="http://schemas.openxmlformats.org/officeDocument/2006/relationships/notesSlide" Target="/ppt/notesSlides/notesSlide5.xml" Id="R6fec84a00ec7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410173a8643ab" /><Relationship Type="http://schemas.openxmlformats.org/officeDocument/2006/relationships/image" Target="/ppt/media/image3.jpeg" Id="R471232ec9a344797" /><Relationship Type="http://schemas.openxmlformats.org/officeDocument/2006/relationships/notesSlide" Target="/ppt/notesSlides/notesSlide6.xml" Id="R5c0bd02a99a446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f07dccc234f0c" /><Relationship Type="http://schemas.openxmlformats.org/officeDocument/2006/relationships/image" Target="/ppt/media/image4.jpeg" Id="R15187b55d2d24386" /><Relationship Type="http://schemas.openxmlformats.org/officeDocument/2006/relationships/notesSlide" Target="/ppt/notesSlides/notesSlide7.xml" Id="R2a8c95c1b4c043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dbcea752f4098" /><Relationship Type="http://schemas.openxmlformats.org/officeDocument/2006/relationships/image" Target="/ppt/media/image5.jpeg" Id="R2e813ae7f9864c84" /><Relationship Type="http://schemas.openxmlformats.org/officeDocument/2006/relationships/notesSlide" Target="/ppt/notesSlides/notesSlide8.xml" Id="R9c7c1acd3f2343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3544e00a64a57" /><Relationship Type="http://schemas.openxmlformats.org/officeDocument/2006/relationships/image" Target="/ppt/media/image6.jpeg" Id="Rfd301058ba664a36" /><Relationship Type="http://schemas.openxmlformats.org/officeDocument/2006/relationships/notesSlide" Target="/ppt/notesSlides/notesSlide9.xml" Id="R0ead778487024f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2a492169c4388" /><Relationship Type="http://schemas.openxmlformats.org/officeDocument/2006/relationships/notesSlide" Target="/ppt/notesSlides/notesSlide10.xml" Id="R8af5c274401e4f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6805d6f704710" /><Relationship Type="http://schemas.openxmlformats.org/officeDocument/2006/relationships/notesSlide" Target="/ppt/notesSlides/notesSlide11.xml" Id="R0fe600d4980d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89da2de39403c" /><Relationship Type="http://schemas.openxmlformats.org/officeDocument/2006/relationships/notesSlide" Target="/ppt/notesSlides/notesSlide12.xml" Id="R36d4dd348f8443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cb550c1b454e" /><Relationship Type="http://schemas.openxmlformats.org/officeDocument/2006/relationships/notesSlide" Target="/ppt/notesSlides/notesSlide13.xml" Id="R63506164394348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9a526c8c1430c" /><Relationship Type="http://schemas.openxmlformats.org/officeDocument/2006/relationships/notesSlide" Target="/ppt/notesSlides/notesSlide14.xml" Id="Rf741921d9fba4c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58CF98A-1D1F-4DD9-9D88-22868701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BOSTON GLOBE MEDIA · NEWSROOM ENABLEMENT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E119744B-6600-4E88-9D04-8EC2F92A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85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 Dumpster</a:t>
            </a:r>
          </a:p>
          <a:p xmlns:a="http://schemas.openxmlformats.org/drawingml/2006/main">
            <a:pPr algn="l">
              <a:defRPr sz="5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 newsrooms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08EE5-D7AA-4867-A055-9FA809C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Find the signal. Check the context. Bring one useful answer back to the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8C5CE-FA34-419B-9CB9-0D672884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860FB-D91E-4BB2-8123-4B8E126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876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TRAINING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BB3C-2390-4E8C-BCC7-EBE1350D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91125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4D35F-CEF6-4F2C-93AA-CD4C2AE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626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Orientation</a:t>
            </a:r>
          </a:p>
          <a:p xmlns:a="http://schemas.openxmlformats.org/drawingml/2006/main">
            <a:pPr algn="r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  <a:p xmlns:a="http://schemas.openxmlformats.org/drawingml/2006/main">
            <a:pPr algn="r"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Guardrails</a:t>
            </a:r>
          </a:p>
        </p:txBody>
      </p:sp>
    </p:spTree>
    <p:extLst>
      <p:ext uri="{BB962C8B-B14F-4D97-AF65-F5344CB8AC3E}">
        <p14:creationId xmlns:p14="http://schemas.microsoft.com/office/powerpoint/2010/main" val="15220127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22DD850-18E1-41A6-80F6-8084F85C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E3DDB-9DD6-4E8A-B007-DE97F5B7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questions organize the whole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2D70F-AAE3-41DA-99D5-AC7E1FA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Start with a newsroom question, then choose the view that answers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B6318-1A01-4609-9E86-E7F9EC97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A9537-CA40-41AE-B2A4-BE7DF17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CF35E-AC53-4404-AC78-8F3B9DF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6FC0F-7521-4723-B5DE-8BEEFE2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happened?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3B9D3-8A0C-45D8-ABEA-4E77969D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rPr>
              <a:t>Cross-Channel and Newsroom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1A2EA-81B2-4458-8E00-53180AF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See the leaders, the volume and the platform mix.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2002D-7EB9-4899-9D8D-91F8A360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4602-84E4-445B-826E-1E502BA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142F0-E08C-49A6-9B58-F0CCD01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did it happen?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508DF-DB90-4444-BD05-BC3AA08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rPr>
              <a:t>Top Content, Social Posts and Story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81A2B-E1A2-475F-BE5F-EB84ED78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Open the posts. Look for topic, format, timing and distribution patterns.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2AD95-A486-40B0-AA29-6423514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97571-7AAE-476A-8691-F9A5A5CB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A6B45-B8A2-4FB9-A6EE-17A38C2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do we do next?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26307-1ABD-4BEA-B8A6-AF4EF76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rPr>
              <a:t>Weekly Report, Briefs and Alerts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FC687-88AC-4588-8AE8-65D4C48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Turn the signal into a huddle note, a test or a leadership readout.</a:t>
            </a:r>
          </a:p>
        </p:txBody>
      </p:sp>
    </p:spTree>
    <p:extLst>
      <p:ext uri="{BB962C8B-B14F-4D97-AF65-F5344CB8AC3E}">
        <p14:creationId xmlns:p14="http://schemas.microsoft.com/office/powerpoint/2010/main" val="2887028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40E72BA-8D09-4358-81FA-56A56A58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570DB-4A1A-4BEC-BA1C-2C70B20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the context before you read a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A10D4-D40E-47A7-83CF-3FFD3E4C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Most bad reads start with the wrong landscape, date window or company filter.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BBDFE-5709-44F6-B41E-117E6C1A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F4F7-424C-4556-B22C-67A50AE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86CA4-F5FB-44E7-9A2C-3150841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39050" cy="4057650"/>
          </a:xfrm>
          <a:prstGeom xmlns:a="http://schemas.openxmlformats.org/drawingml/2006/main" prst="roundRect">
            <a:avLst>
              <a:gd name="adj" fmla="val 2347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e86ec53f94071"/>
          <a:srcRect xmlns:a="http://schemas.openxmlformats.org/drawingml/2006/main" l="0" t="3418" r="0" b="3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133600"/>
            <a:ext cx="752475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18C93-2255-4BA9-B015-F3030F88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902F9-8D35-417C-AC30-D721ED48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BEE29-C365-408E-91AD-4171BF5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Landscape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15D07-E9EE-4637-A0F1-7ACA7FA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Who belongs in the comparison set—and which company is the focus?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55B35-11B8-4453-9D13-425753D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5EEE1-8CA3-46BA-B635-A567F259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8A834-C3E6-4466-864B-D2C34CB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Date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99ADE-A9C4-4F97-8ABA-AF3D2114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8145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 same window when you compare totals, rates or week-over-week movement.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CE47-C961-44A5-AB63-1DC26D2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92EDA-5B0D-49FB-8E8E-23D7DA1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768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EF568-4A89-47C3-B22D-DEC9AD95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29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CC83B-3241-4ED6-8CE9-54A0119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483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Platform and company filters change the question. Reset them before sharing a finding.</a:t>
            </a:r>
          </a:p>
        </p:txBody>
      </p:sp>
    </p:spTree>
    <p:extLst>
      <p:ext uri="{BB962C8B-B14F-4D97-AF65-F5344CB8AC3E}">
        <p14:creationId xmlns:p14="http://schemas.microsoft.com/office/powerpoint/2010/main" val="4704631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CE787F14-4A67-4A2B-8491-7E5489A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316E06-B5F7-447C-B2FD-7C61BA5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at-a-glance row is a scorecard—not a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680A5-0905-4CFA-B244-2D37C45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 four measures together; no single tile tells the whole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DA7A1-E16D-40E8-BCC9-B70A1D1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88842-0F84-4F41-A611-B74018CD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E0FC7-99EB-488B-BED6-747926B9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2914650"/>
          </a:xfrm>
          <a:prstGeom xmlns:a="http://schemas.openxmlformats.org/drawingml/2006/main" prst="roundRect">
            <a:avLst>
              <a:gd name="adj" fmla="val 3268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9a0f9fd614bdb"/>
          <a:srcRect xmlns:a="http://schemas.openxmlformats.org/drawingml/2006/main" l="0" t="27928" r="0" b="27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38350"/>
            <a:ext cx="11277600" cy="2800350"/>
          </a:xfrm>
          <a:prstGeom xmlns:a="http://schemas.openxmlformats.org/drawingml/2006/main" prst="roundRect">
            <a:avLst>
              <a:gd name="adj" fmla="val 27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2C206-410F-43CB-9036-42A26A7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F62CE-EC78-4B3F-B66E-F72345C4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19A85-0885-42F8-B9DE-BD7C078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Latest follower reading in the window. It is a stock, never a sum.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4BB9D-13B0-48B1-B106-E41081C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05400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DAF81-4D0A-40A9-9AF3-2E12F3C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1DF27-7143-485B-AFA5-A377CF2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57850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How much the selected account set published in the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C9D34-AF35-4063-A53A-6812A96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05400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4B905-D3BB-46B0-86A7-56890FC7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Engagement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2996F-012E-4CAB-9B23-841E1F5F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Measured reactions, comments and amplification added across posts.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264C6-F3F3-4D2F-989D-B085812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05400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6C2CC-69C8-4D2A-B3A1-A3A0773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 engaging channel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41597-9EB3-4EA7-8169-284AFE9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57850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Where the focus company earned the most measured engagement.</a:t>
            </a:r>
          </a:p>
        </p:txBody>
      </p:sp>
    </p:spTree>
    <p:extLst>
      <p:ext uri="{BB962C8B-B14F-4D97-AF65-F5344CB8AC3E}">
        <p14:creationId xmlns:p14="http://schemas.microsoft.com/office/powerpoint/2010/main" val="16476733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A24D8E26-1EDB-4500-A0DF-ABF6C73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F03D95-0815-4D4F-B10D-021D77DC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Top content is where patterns become actionable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720AF-711D-476D-8777-768C4370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 cards to move from rank to a hypothesis you can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40E3E-87A8-48F9-9D96-B4C3BAD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A2CE7-3FAB-4A2A-9005-F8D9500F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64CC4-4836-49AE-A561-5AA773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67056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E0206-FC98-43AB-8D85-DDA1F196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strong read has four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2A0D-C192-4C57-AA44-37188407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91776-8898-487D-B0E2-58969B9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post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9FAA1-A696-4804-AA34-5058A9F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14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rPr>
              <a:t>Media, copy and link context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B044E-936C-4144-BB88-835D83A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5F6B5-F10F-4E95-8A34-AD2F017D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the denominator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0377C-56AA-4703-9801-35D3F91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rPr>
              <a:t>Big total or true outlier for that account?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5CA9A-9AB7-4BFC-94F1-30926A99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A930F-5203-4309-AF70-CCB2C44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the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E679A-AF6C-4BC7-B954-57F1C5D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9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rPr>
              <a:t>Topic, format, timing, platform or distribution.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02A17-35CF-4EDE-98B5-E66FDFE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B82EC-C7B3-4271-8272-EF98CB74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86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a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85492-CED0-4A6F-B1A6-A863080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86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4D4D4"/>
                </a:solidFill>
                <a:latin typeface="Helvetica Neue"/>
                <a:ea typeface="Helvetica Neue"/>
                <a:cs typeface="Helvetica Neue"/>
              </a:rPr>
              <a:t>What can the newsroom repeat or challenge?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C2AF2-B8A9-41CE-9AC1-0347C4AF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2E455-401C-4852-8FF3-18F8D3C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“This post won because the algorithm liked it.”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ECE3B-4A84-4BA1-9A29-CA5C858A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1F0C6-F10C-4719-8E7D-43CEE559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7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94A"/>
                </a:solidFill>
                <a:latin typeface="Helvetica Neue"/>
                <a:ea typeface="Helvetica Neue"/>
                <a:cs typeface="Helvetica Neue"/>
              </a:rPr>
              <a:t>Prefer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7202B-C170-416D-986F-7C4B3D3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“Video explainers about a live local event outperformed this account’s usual post—let’s test the format again.”</a:t>
            </a:r>
          </a:p>
        </p:txBody>
      </p:sp>
    </p:spTree>
    <p:extLst>
      <p:ext uri="{BB962C8B-B14F-4D97-AF65-F5344CB8AC3E}">
        <p14:creationId xmlns:p14="http://schemas.microsoft.com/office/powerpoint/2010/main" val="759518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92E60BD-0479-4225-B384-5EF5660F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7AAC68-CCC4-475F-9C63-45775FC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Leaderboards answer relative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AD978-4373-4443-9473-91B3EADF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them when the question is “compared with whom?” rather than “how big?”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90334-5AF9-4B27-B3AC-82070CF0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15B7B-6121-455D-80A5-76B2A76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4F4CC-72B0-45A0-B502-D87B5EB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7315200" cy="4114800"/>
          </a:xfrm>
          <a:prstGeom xmlns:a="http://schemas.openxmlformats.org/drawingml/2006/main" prst="roundRect">
            <a:avLst>
              <a:gd name="adj" fmla="val 2315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232ec9a344797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114550"/>
            <a:ext cx="72009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9CD88-56D3-4962-A489-C9A5963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5CB32-008E-418C-9EEA-4D15CDFA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7170D-9AF4-440C-9E8D-00EDE8D6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Position among measured companies in the selected landscape and window.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7EADE-C250-449E-A70B-A6A78C0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E2E45-2FDA-44E6-8F84-722640B6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Dashed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A4B8E-CB03-458D-B532-B2664B9B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Average of the field excluding the focus company; clearing it means beating the field.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667F9-3047-4F52-A2EF-B8E08890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8AA80-3E73-4017-80A7-3307940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72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Colored segments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82BD1-71CF-44E2-AA95-EB4D82C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7721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Each platform’s contribution when the metric can be added across channels.</a:t>
            </a:r>
          </a:p>
        </p:txBody>
      </p:sp>
    </p:spTree>
    <p:extLst>
      <p:ext uri="{BB962C8B-B14F-4D97-AF65-F5344CB8AC3E}">
        <p14:creationId xmlns:p14="http://schemas.microsoft.com/office/powerpoint/2010/main" val="15922189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2316F08-8618-45C3-A9E1-EF6B2A2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842397-A3C2-456D-87D1-8E15D10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weekly report turns analysis into a repeatable ritual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4C654-E920-46EA-B5E5-25B887C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Numbers are computed; newsroom context and the executive narrative remain deliberate editorial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478FE-B1AD-431C-95A0-ACD18C21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F2C9-89DF-440F-B7BB-0765AF3C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EDE99-CE0A-4B30-BFB0-43168CAF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353300" cy="4210050"/>
          </a:xfrm>
          <a:prstGeom xmlns:a="http://schemas.openxmlformats.org/drawingml/2006/main" prst="roundRect">
            <a:avLst>
              <a:gd name="adj" fmla="val 2262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87b55d2d24386"/>
          <a:srcRect xmlns:a="http://schemas.openxmlformats.org/drawingml/2006/main" l="0" t="16676" r="0" b="16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955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9DA7B-919C-451D-A676-DA5AE68C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81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AC62C-432D-4068-80B7-8633BC9F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812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F06B2-5552-4253-9BAF-E09F54E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Recompute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F172A-0305-4F32-BC82-D3790114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Refresh the stored numeric snapshot when source data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6572A-6B84-4797-85BC-B1931C84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20435-3D85-47E9-B92A-3098B58E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670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944FF-FCBF-4816-943C-83291ED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Write the 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46C13-BAB4-49D1-8B90-4462881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 narrative fields for the “so what,” not arithmetic.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7B2C6-12DB-4C00-8239-1617E419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52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30B82-BB13-4A21-9402-4F77DC45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529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50291-4329-4926-B753-A95F01C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Complete manual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4EF8C-09CB-4F26-BD0F-02FBE92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Paste-box sections are clearly labeled when Data Dumpster cannot read the source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DE67B-538E-437C-A983-0E20409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9B634-97E3-4C36-8F6D-FF1174D2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00BE3-A86F-4BA4-AE90-C0E21FF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Export and deliver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74AFE-093F-42A9-B0AC-3794E28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340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PowerPoint, CSV and Markdown support different audiences.</a:t>
            </a:r>
          </a:p>
        </p:txBody>
      </p:sp>
    </p:spTree>
    <p:extLst>
      <p:ext uri="{BB962C8B-B14F-4D97-AF65-F5344CB8AC3E}">
        <p14:creationId xmlns:p14="http://schemas.microsoft.com/office/powerpoint/2010/main" val="12250396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A49984C-5093-432A-8C5A-4097AE8F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794917-4FD2-4DE2-9216-BC702AC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Newsroom Screen is built for a standing huddle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506ED-FC6E-4E78-90BD-8FB88C7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It rereads stored data; leaving it on does not trigger new vendor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1864D-8B69-4891-9F45-36DD1BCE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27A17-788D-4B04-BA83-72AEBB3D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FE572-12E7-41B0-AB6F-F3656EC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924800" cy="4210050"/>
          </a:xfrm>
          <a:prstGeom xmlns:a="http://schemas.openxmlformats.org/drawingml/2006/main" prst="roundRect">
            <a:avLst>
              <a:gd name="adj" fmla="val 2262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13ae7f9864c84"/>
          <a:srcRect xmlns:a="http://schemas.openxmlformats.org/drawingml/2006/main" l="0" t="19114" r="0" b="19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95500"/>
            <a:ext cx="78105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B7B68-F772-48AA-ACDD-5A55499D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Slide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36F0-5C2D-46FD-8302-721A2F70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Rolling 24-hour engagement leaders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94A8A-02C1-4523-B6DB-D2F0638A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Slide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AE3CB-5B94-48C8-89F4-438CBC88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Top content on every platform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7F323-FC02-4C11-8A4F-9A30838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00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368C8-0113-4CDA-83CD-7D983A1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435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Fullscreen · pause · next/previous · refresh display data</a:t>
            </a:r>
          </a:p>
        </p:txBody>
      </p:sp>
    </p:spTree>
    <p:extLst>
      <p:ext uri="{BB962C8B-B14F-4D97-AF65-F5344CB8AC3E}">
        <p14:creationId xmlns:p14="http://schemas.microsoft.com/office/powerpoint/2010/main" val="11492970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0A81DB0-10A9-44A8-8A16-48578412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130A4-6F58-428C-8BE6-D5398FED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 quality labels change what you can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88D7D-E02A-47B2-8A5D-1B3951DE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Partial does not mean broken—but it does limit comparisons and week-over-week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1D70F-4510-4BB5-8FE1-3543D48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1A434-A454-456C-9F3F-8A32CDDF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8B265-933D-464F-B2AA-3A659ED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639050" cy="4229100"/>
          </a:xfrm>
          <a:prstGeom xmlns:a="http://schemas.openxmlformats.org/drawingml/2006/main" prst="roundRect">
            <a:avLst>
              <a:gd name="adj" fmla="val 2252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01058ba664a36"/>
          <a:srcRect xmlns:a="http://schemas.openxmlformats.org/drawingml/2006/main" l="0" t="17792" r="0" b="17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95500"/>
            <a:ext cx="7524750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F9031-991B-496C-9C72-85ABE4BA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you see a warning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58F6-552D-44C3-ABAE-C8724516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9908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 Read what is still usable.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 Check whether the missing piece affects the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 Withhold trend language when the product withholds WoW.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4. Escalate “action required” to an operator.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234CB-C0C7-41CD-ABE4-8A7D378D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7690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FE248-DD26-492E-9075-61DAB8B8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0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Blank is safer than a fake zero.</a:t>
            </a:r>
          </a:p>
        </p:txBody>
      </p:sp>
    </p:spTree>
    <p:extLst>
      <p:ext uri="{BB962C8B-B14F-4D97-AF65-F5344CB8AC3E}">
        <p14:creationId xmlns:p14="http://schemas.microsoft.com/office/powerpoint/2010/main" val="4002921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3F4DB0EE-C859-40FB-91F4-2D997C0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091F8B-DDF5-4260-A7B2-595C6643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Five labels every newsroom user should know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9E8F1-6276-4DB1-B3A1-7A541551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These are evidence labels—not error messages to click past.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881A-92C8-4C14-A327-9E91B45B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C30D-C88A-494B-A0AD-E22EB99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9BB54-800F-412D-B83D-B5B37BB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7412A-BF2A-4B83-AE02-9A2AF6B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7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6794A"/>
                </a:solidFill>
                <a:latin typeface="Helvetica Neue"/>
                <a:ea typeface="Helvetica Neue"/>
                <a:cs typeface="Helvetica Neue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8E9DC-3335-4CB7-8375-729BCAE9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profile covers the requested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5C61B-FEB9-47C1-9A90-84116A8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788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55294-8546-4FE9-9CD9-9FD0B82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A10FC-95F5-4901-AD48-50F701C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Usable, 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F045F-EB12-491D-A804-61188E25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Recent data can be shown; some history or snapshots are missing.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3BB0D-9FA1-43CE-81FB-511E8A4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788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90731-9DB2-49E7-AA2C-E52AAAC7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DDFCD-06CC-41AC-BF90-A3F1ADC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Source-limited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A57CC-DFAB-4DAE-AEDB-ED1755D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vendor cannot certify the full window or metric.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079C3-9275-4A50-BC60-C493013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788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96867-A042-4244-B5AD-DB3E6CF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82B25-4988-4854-8D4B-C63EF4F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Action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FC79C-869D-4D01-8F91-D1ABA2C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05350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Configuration, credentials or operator attention is needed.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F69C1-3788-4E71-B094-1B9A0ECF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57800"/>
            <a:ext cx="7886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681E8-54BB-4E23-9CA0-F133B8DD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A1F90-C0CB-4207-80FB-A06A3BF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530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8E0C22"/>
                </a:solidFill>
                <a:latin typeface="Helvetica Neue"/>
                <a:ea typeface="Helvetica Neue"/>
                <a:cs typeface="Helvetica Neue"/>
              </a:rPr>
              <a:t>WoW withheld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14E44-9D1D-4F9A-9BAF-86FADB06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24500"/>
            <a:ext cx="788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comparison is not trustworthy enough to publish.</a:t>
            </a:r>
          </a:p>
        </p:txBody>
      </p:sp>
    </p:spTree>
    <p:extLst>
      <p:ext uri="{BB962C8B-B14F-4D97-AF65-F5344CB8AC3E}">
        <p14:creationId xmlns:p14="http://schemas.microsoft.com/office/powerpoint/2010/main" val="6319559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0188A223-8DBB-44F2-91F9-EB1E25F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31E7D-3663-4DDF-BE80-98266998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Data Dumpster into three newsroom rhythms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27701-8AD6-44F3-8E56-01D593F1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The product is most useful when the question and the meeting cadence are predictable.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C00A-72F9-476E-A76D-3BF45E9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DBC18-D3E2-427E-AF8D-A3A0D3C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5AC60-ACD1-4B22-8ABB-0603C424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7F594-0AAB-443D-813B-C78D75F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B9EC4-151C-49FA-A910-FF00822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8–10 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11EE8-A8F0-4406-8135-6858DD7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Morning huddle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058F7-5917-4593-A8D7-E5505E80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Newsroom Screen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24-hour leaders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Today’s platform winners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063C3-755B-4CC8-8F80-B47A659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Leave with one story or format worth watching.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20DD-54EB-4748-8E84-1C5332A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C3AAA-88A6-43ED-ADD5-2175C9AA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During a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3861D-647E-480F-AAF8-5605F553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Response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23555-88A8-4802-B34E-D36BEF12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243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Social Posts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Platform view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Competitor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28618-C194-4D91-A1E5-5DB23F3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29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Decide whether to extend, repackage or 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6B24B-6DC1-4C2B-9D31-BC57296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29BDC-DF8F-40AF-A889-452175F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Once a week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12880-1247-4AAE-B92A-E1D0399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Performance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A3AFD-22A9-420B-88B5-96F7ED30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Leaderboards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Weekly Report</a:t>
            </a:r>
          </a:p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88077-A560-4688-A6A9-3E4E7504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 the pattern, the caveat and next week’s test.</a:t>
            </a:r>
          </a:p>
        </p:txBody>
      </p:sp>
    </p:spTree>
    <p:extLst>
      <p:ext uri="{BB962C8B-B14F-4D97-AF65-F5344CB8AC3E}">
        <p14:creationId xmlns:p14="http://schemas.microsoft.com/office/powerpoint/2010/main" val="3693829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A4CAAFFC-ED10-4536-AAB2-F8B35EC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BD8D8B-0817-43F9-AC10-45DBF10A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Four guardrails keep the read honest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5F743-14FF-4202-A9C9-DDC0851D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these before a finding leaves the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CC48-6251-4CC4-A5EB-28C146F6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D91C0-20A5-4E50-A47D-90BF1A9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69A45-E00F-4A80-9632-252D818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219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00F26-FA46-4D2E-AD2C-4035766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17309-6CCA-45B4-8844-45CBB11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02231-0E2E-493E-9CA3-8411FDA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Carry the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8AE3A-9846-4146-84A2-7777C690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Landscape, date window, platform and company filters belong with the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EBABB-8410-4797-9967-B43D3F7E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5219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97340-BD08-4CAC-841F-4E1E43B9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9173F-7A0C-4703-A05F-FB26DEA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FFCF4-784D-48AE-8B9D-8B6A9818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 audience as a 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441B4-7845-406B-B734-F163881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the latest follower snapshot in the window. Never add daily follower readings.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623AB-7F75-4388-8C2C-0F8330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219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ED439-40FA-4B6E-B19F-C4EDAA1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6BB0F-77FF-4212-B6E9-8BF8E482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39249-1943-4508-A531-F0D286A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Respect withheld comparisons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A3E87-4804-470D-8051-8737FE05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No prior baseline or incomplete coverage means no invented percentage change.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FA31D-F01D-45EF-8060-93065648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5219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35EF1-80F6-4624-995A-FC4ACB1C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71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2E546-EF73-48CB-AA49-48C693D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71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B567C-54B5-4BE8-9B62-A34997A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Separate evidence from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E29BE-808B-4385-8565-970D42DD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Data Dumpster shows what happened; newsroom context explains why.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B77D5-773F-438E-B8C9-E0C7AF5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If the tool leaves a cell blank, do not turn the blank into zero.</a:t>
            </a:r>
          </a:p>
        </p:txBody>
      </p:sp>
    </p:spTree>
    <p:extLst>
      <p:ext uri="{BB962C8B-B14F-4D97-AF65-F5344CB8AC3E}">
        <p14:creationId xmlns:p14="http://schemas.microsoft.com/office/powerpoint/2010/main" val="7549742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E3ED2D45-A481-4D6F-9067-75289B65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DATA DUMPSTER · NEWSROOM 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891DF-2382-4DC7-A0C7-D60FDCC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Practice: bring one useful answer back in 10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1774D-2547-4058-A689-F12423FC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Work in the Boston News Landscape. Use the last seven complete days unless your question needs another window.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6B9CE-0454-4105-B8F6-81F958D2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57D00-13E5-4279-AC49-1425958F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E929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7DC71-EAF0-4D24-A9BB-3D58F9CF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7A3D6-7A85-41FE-B567-0541CB3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 the current engagement leader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AEA24-5370-4567-85C2-5273BB3B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Use Leaderboards and record the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AD29A-B371-4726-A62B-515F741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C1825-1267-44BD-B72E-9E5C2B2B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6BCBD-B314-4FBC-BE4A-CD5E078E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 one top post worth discussing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0EE75-C8A6-4167-A6C8-1D2B318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Open the card and name the topic, format and platform.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34269-A2D5-4CC1-ACE8-206A68F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44E5D-DA98-427A-9BB8-7D9D0C8C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C3F90-3E41-4314-B549-218FC043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Check the evidence label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0E196-1B50-45FB-BFD7-9D20C115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Is the profile complete, usable/partial, source-limited or action required?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50633-E75F-4B1A-92B7-1C7E8A1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6F8BF-FFC1-4153-AF94-7358C02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002D7-BF15-4B2B-B329-2D59C37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Propose one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E9357-B57D-4F9C-BFA8-FE6B44C5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6730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Repeat, repackage, investigate or deliberately do nothing.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AC995-9AD0-4AAC-B6C5-BCF3FCA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1003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E04E3-2EBC-4887-B896-FB74291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0839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3CDB1-7FAE-4644-B28C-8762171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Share-out format: Finding · Evidence · Caveat · Next move</a:t>
            </a:r>
          </a:p>
        </p:txBody>
      </p:sp>
    </p:spTree>
    <p:extLst>
      <p:ext uri="{BB962C8B-B14F-4D97-AF65-F5344CB8AC3E}">
        <p14:creationId xmlns:p14="http://schemas.microsoft.com/office/powerpoint/2010/main" val="9475064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26EBDA3-8BC4-4EF5-AA8D-1EC5526F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C8102E"/>
                </a:solidFill>
                <a:latin typeface="Helvetica Neue"/>
                <a:ea typeface="Helvetica Neue"/>
                <a:cs typeface="Helvetica Neue"/>
              </a:rPr>
              <a:t>THE HABIT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E6D54-CFD7-4A13-A4C4-DEECFADE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Context → signal →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48581-5CCB-456C-9D24-F89345C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628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Open the right landscape.</a:t>
            </a:r>
          </a:p>
          <a:p xmlns:a="http://schemas.openxmlformats.org/drawingml/2006/main">
            <a:pPr algn="l">
              <a:def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Name what the evidence supports.</a:t>
            </a:r>
          </a:p>
          <a:p xmlns:a="http://schemas.openxmlformats.org/drawingml/2006/main">
            <a:pPr algn="l">
              <a:def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60636B"/>
                </a:solidFill>
                <a:latin typeface="Helvetica Neue"/>
                <a:ea typeface="Helvetica Neue"/>
                <a:cs typeface="Helvetica Neue"/>
              </a:rPr>
              <a:t>Bring one decision back to the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E905F-4C7E-48C4-A651-2B8C629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53C0-1093-4DA7-ABBC-D40FE40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8D46B-49AF-434B-A3EB-F056FCB7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Boston News</a:t>
            </a:r>
          </a:p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Landscape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D8C7-E5D3-433D-8629-E20B8CBF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9B97-023C-4BF0-ABE4-B4B3037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Cross-Channel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Newsroom Screen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Weekly Report</a:t>
            </a:r>
          </a:p>
        </p:txBody>
      </p:sp>
    </p:spTree>
    <p:extLst>
      <p:ext uri="{BB962C8B-B14F-4D97-AF65-F5344CB8AC3E}">
        <p14:creationId xmlns:p14="http://schemas.microsoft.com/office/powerpoint/2010/main" val="226309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2026-08-07T23:17:02.6070000Z</dcterms:created>
  <dcterms:modified xsi:type="dcterms:W3CDTF">2026-08-07T23:17:02.6070000Z</dcterms:modified>
</coreProperties>
</file>